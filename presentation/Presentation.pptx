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Restaurants by City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E8404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15C-4377-8177-4492B51B9A7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15C-4377-8177-4492B51B9A7F}"/>
              </c:ext>
            </c:extLst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15C-4377-8177-4492B51B9A7F}"/>
              </c:ext>
            </c:extLst>
          </c:dPt>
          <c:dPt>
            <c:idx val="3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15C-4377-8177-4492B51B9A7F}"/>
              </c:ext>
            </c:extLst>
          </c:dPt>
          <c:dPt>
            <c:idx val="4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15C-4377-8177-4492B51B9A7F}"/>
              </c:ext>
            </c:extLst>
          </c:dPt>
          <c:dPt>
            <c:idx val="5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15C-4377-8177-4492B51B9A7F}"/>
              </c:ext>
            </c:extLst>
          </c:dPt>
          <c:dPt>
            <c:idx val="6"/>
            <c:invertIfNegative val="0"/>
            <c:bubble3D val="0"/>
            <c:spPr>
              <a:solidFill>
                <a:srgbClr val="FCA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15C-4377-8177-4492B51B9A7F}"/>
              </c:ext>
            </c:extLst>
          </c:dPt>
          <c:cat>
            <c:strRef>
              <c:f>Sheet1!$A$2:$A$8</c:f>
              <c:strCache>
                <c:ptCount val="7"/>
                <c:pt idx="0">
                  <c:v>Delhi</c:v>
                </c:pt>
                <c:pt idx="1">
                  <c:v>Mumbai</c:v>
                </c:pt>
                <c:pt idx="2">
                  <c:v>Bangalore</c:v>
                </c:pt>
                <c:pt idx="3">
                  <c:v>Hyderabad</c:v>
                </c:pt>
                <c:pt idx="4">
                  <c:v>Pune</c:v>
                </c:pt>
                <c:pt idx="5">
                  <c:v>Chennai</c:v>
                </c:pt>
                <c:pt idx="6">
                  <c:v>Kolkata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671</c:v>
                </c:pt>
                <c:pt idx="1">
                  <c:v>592</c:v>
                </c:pt>
                <c:pt idx="2">
                  <c:v>525</c:v>
                </c:pt>
                <c:pt idx="3">
                  <c:v>425</c:v>
                </c:pt>
                <c:pt idx="4">
                  <c:v>351</c:v>
                </c:pt>
                <c:pt idx="5">
                  <c:v>244</c:v>
                </c:pt>
                <c:pt idx="6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15C-4377-8177-4492B51B9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Orders by Time Slot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FCA5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D7A-47F3-BBE8-BAD83F76CA13}"/>
              </c:ext>
            </c:extLst>
          </c:dPt>
          <c:dPt>
            <c:idx val="1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D7A-47F3-BBE8-BAD83F76CA13}"/>
              </c:ext>
            </c:extLst>
          </c:dPt>
          <c:dPt>
            <c:idx val="2"/>
            <c:invertIfNegative val="0"/>
            <c:bubble3D val="0"/>
            <c:spPr>
              <a:solidFill>
                <a:srgbClr val="F871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D7A-47F3-BBE8-BAD83F76CA13}"/>
              </c:ext>
            </c:extLst>
          </c:dPt>
          <c:dPt>
            <c:idx val="3"/>
            <c:invertIfNegative val="0"/>
            <c:bubble3D val="0"/>
            <c:spPr>
              <a:solidFill>
                <a:srgbClr val="E8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D7A-47F3-BBE8-BAD83F76CA1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D7A-47F3-BBE8-BAD83F76CA13}"/>
              </c:ext>
            </c:extLst>
          </c:dPt>
          <c:cat>
            <c:strRef>
              <c:f>Sheet1!$A$2:$A$6</c:f>
              <c:strCache>
                <c:ptCount val="5"/>
                <c:pt idx="0">
                  <c:v>Breakfast</c:v>
                </c:pt>
                <c:pt idx="1">
                  <c:v>Lunch</c:v>
                </c:pt>
                <c:pt idx="2">
                  <c:v>Snacks</c:v>
                </c:pt>
                <c:pt idx="3">
                  <c:v>Dinner</c:v>
                </c:pt>
                <c:pt idx="4">
                  <c:v>Late Night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4100</c:v>
                </c:pt>
                <c:pt idx="1">
                  <c:v>14200</c:v>
                </c:pt>
                <c:pt idx="2">
                  <c:v>7000</c:v>
                </c:pt>
                <c:pt idx="3">
                  <c:v>19300</c:v>
                </c:pt>
                <c:pt idx="4">
                  <c:v>5400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D7A-47F3-BBE8-BAD83F76CA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990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🍽️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228600" y="1737360"/>
            <a:ext cx="2743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0" y="10058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Capstone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5544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Learning-Driven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Advisory System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474720" y="26060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entrepreneurs find the right location and cuisine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Zomato-style data from 7 Indian metro cities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520440"/>
            <a:ext cx="1170432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354787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74720" y="389534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3520440"/>
            <a:ext cx="1170432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354787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389534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520440"/>
            <a:ext cx="1170432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54787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26480" y="389534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52360" y="3520440"/>
            <a:ext cx="1170432" cy="82296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3547872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452360" y="389534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4663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Rehan |  </a:t>
            </a:r>
            <a:r>
              <a:rPr lang="en-US" sz="10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Imarticus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8920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A4F651C-4E7A-203B-C776-F38A22CCC421}"/>
              </a:ext>
            </a:extLst>
          </p:cNvPr>
          <p:cNvSpPr/>
          <p:nvPr/>
        </p:nvSpPr>
        <p:spPr>
          <a:xfrm>
            <a:off x="1514659" y="1482213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 extend my sincere gratitude to </a:t>
            </a:r>
            <a:r>
              <a:rPr lang="en-US" sz="2000" b="1" dirty="0">
                <a:solidFill>
                  <a:srgbClr val="E67E22"/>
                </a:solidFill>
              </a:rPr>
              <a:t>Utkarsh Tiwari 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for their invaluable guidance and support throughout this capstone project.</a:t>
            </a:r>
            <a:r>
              <a:rPr lang="en-US" sz="2000" dirty="0">
                <a:solidFill>
                  <a:srgbClr val="000000"/>
                </a:solidFill>
              </a:rPr>
              <a:t>
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 am thankful to </a:t>
            </a:r>
            <a:r>
              <a:rPr lang="en-US" sz="2000" b="1" dirty="0" err="1">
                <a:solidFill>
                  <a:srgbClr val="E67E22"/>
                </a:solidFill>
              </a:rPr>
              <a:t>Imarticus</a:t>
            </a:r>
            <a:r>
              <a:rPr lang="en-US" sz="2000" b="1" dirty="0">
                <a:solidFill>
                  <a:srgbClr val="E67E22"/>
                </a:solidFill>
              </a:rPr>
              <a:t> Learning</a:t>
            </a:r>
            <a:r>
              <a:rPr lang="en-US" sz="2000" dirty="0">
                <a:solidFill>
                  <a:srgbClr val="000000"/>
                </a:solidFill>
              </a:rPr>
              <a:t> </a:t>
            </a: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for providing the resources and environment necessary for this research.
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 also appreciate my family and peers for their continuous encouragement.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3931920" cy="38404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Motivation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Zomato processes millions of food orders daily — collecting rich data on restaurants, customers, and behaviour.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299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Most restaurant owners still rely on intuition when deciding WHERE to open or WHAT to serve.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This gap between available data and business decisions is the core motivation.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The question: Can we turn food delivery data into a restaurant consulting tool?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8503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316736"/>
            <a:ext cx="82296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167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3167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restaurant details → Predict the best area to open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231136"/>
            <a:ext cx="82296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311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77840" y="22311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location → Predict the best cuisine type to serve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145536"/>
            <a:ext cx="82296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1455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3145536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Streamlit web app for end users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—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508760" y="2788920"/>
            <a:ext cx="256032" cy="0"/>
          </a:xfrm>
          <a:prstGeom prst="line">
            <a:avLst/>
          </a:prstGeom>
          <a:noFill/>
          <a:ln w="25400">
            <a:solidFill>
              <a:srgbClr val="E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53512" y="2788920"/>
            <a:ext cx="256032" cy="0"/>
          </a:xfrm>
          <a:prstGeom prst="line">
            <a:avLst/>
          </a:prstGeom>
          <a:noFill/>
          <a:ln w="25400">
            <a:solidFill>
              <a:srgbClr val="E8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98264" y="2788920"/>
            <a:ext cx="256032" cy="0"/>
          </a:xfrm>
          <a:prstGeom prst="line">
            <a:avLst/>
          </a:prstGeom>
          <a:noFill/>
          <a:ln w="25400">
            <a:solidFill>
              <a:srgbClr val="E8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43016" y="2788920"/>
            <a:ext cx="256032" cy="0"/>
          </a:xfrm>
          <a:prstGeom prst="line">
            <a:avLst/>
          </a:prstGeom>
          <a:noFill/>
          <a:ln w="254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0176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87768" y="2788920"/>
            <a:ext cx="256032" cy="0"/>
          </a:xfrm>
          <a:prstGeom prst="line">
            <a:avLst/>
          </a:prstGeom>
          <a:noFill/>
          <a:ln w="254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2715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4904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4904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generation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tables · 93,846 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64792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64792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64792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64792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819656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19656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nulls, duplicates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normalization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9544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9544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9544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9544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64408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64408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EDA charts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extracted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54296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54296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54296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709160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features created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Demand-supply gap, popularity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99048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99048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99048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99048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153912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Modelling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53912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Random Forest models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90.67% &amp; 81.17% accuracy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43800" y="1005840"/>
            <a:ext cx="13258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543800" y="1005840"/>
            <a:ext cx="1325880" cy="4572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102412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543800" y="160020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7598664" y="2148840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598664" y="2542032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tabs · live predictions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Data Ingestion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05840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002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63040" y="978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restaurants.csv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12893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154533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cols: restaurant_id, city, area,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cuisine_type, avg_price_for_two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00600" y="868680"/>
            <a:ext cx="40233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868680"/>
            <a:ext cx="1005840" cy="17190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43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00600" y="167335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00600" y="200253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9784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customers.csv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97880" y="128930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columns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154533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cols: customer_id, city, area,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preferred_cuisine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40233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788920"/>
            <a:ext cx="1005840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63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5935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5760" y="3922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63040" y="2898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orders.csv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63040" y="32095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columns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346557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cols: order_id, customer_id,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restaurant_id, total_amount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788920"/>
            <a:ext cx="40233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788920"/>
            <a:ext cx="1005840" cy="17190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0632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00600" y="359359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~30,000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00600" y="39227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97880" y="2898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reviews.csv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897880" y="32095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columns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3465576"/>
            <a:ext cx="2834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cols: review_id, order_id,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food_rating, overall_rating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Cities: Mumbai · Delhi · Bangalore · Hyderabad · Pune · Chennai · Kolkata   |   📅  Date Range: Jan 2021 – Dec 2023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Cleaning &amp; Preprocessing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14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149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df.isnull().sum() on all 4 tables.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missing values found.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86868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86868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14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794760" y="10149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5087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df.duplicated().sum()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duplicate rows found.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86868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86868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014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101498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44768" y="150876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order_date to datetime.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columns (True/False) cast to int (1/0).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86868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4320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28895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38328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LabelEncoder from scikit-learn.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area, cuisine_type, restaurant_type → numbers.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274320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9184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794760" y="28895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38328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MinMaxScaler to scale popularity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competition to 0–1 range for demand_supply_gap.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74320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743200"/>
            <a:ext cx="260604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2889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629400" y="288950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Check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383280"/>
            <a:ext cx="23774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all FK relationships: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valid customer_id and restaurant_id in orders.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35040" y="2743200"/>
            <a:ext cx="54864" cy="16642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Exploratory Data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12 charts to uncover patterns and business insights from the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993392" cy="1005840"/>
          </a:xfrm>
          <a:prstGeom prst="rect">
            <a:avLst/>
          </a:prstGeom>
          <a:solidFill>
            <a:srgbClr val="E84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1289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56362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 per City (Bar)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1993392" cy="1005840"/>
          </a:xfrm>
          <a:prstGeom prst="rect">
            <a:avLst/>
          </a:prstGeom>
          <a:solidFill>
            <a:srgbClr val="E84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9464" y="1289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9464" y="156362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Cuisines (Bar)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93392" cy="1005840"/>
          </a:xfrm>
          <a:prstGeom prst="rect">
            <a:avLst/>
          </a:prstGeom>
          <a:solidFill>
            <a:srgbClr val="E84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18304" y="1289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18304" y="156362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by City (Bar)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2280" y="1234440"/>
            <a:ext cx="1993392" cy="1005840"/>
          </a:xfrm>
          <a:prstGeom prst="rect">
            <a:avLst/>
          </a:prstGeom>
          <a:solidFill>
            <a:srgbClr val="E84040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67144" y="128930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67144" y="156362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Type Distribution (Pie)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23160"/>
            <a:ext cx="199339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0624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0624" y="275234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Split (Bar)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2423160"/>
            <a:ext cx="199339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569464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69464" y="275234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Time Slot (Bar)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423160"/>
            <a:ext cx="199339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18304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18304" y="275234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Trend (Line)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2423160"/>
            <a:ext cx="1993392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67144" y="247802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67144" y="275234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(Histogram)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1993392" cy="1005840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0624" y="3666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0624" y="394106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 by Cuisine (Bar)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14600" y="3611880"/>
            <a:ext cx="1993392" cy="1005840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569464" y="3666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569464" y="394106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611880"/>
            <a:ext cx="1993392" cy="1005840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18304" y="3666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18304" y="394106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Areas by Orders (Bar)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12280" y="3611880"/>
            <a:ext cx="1993392" cy="1005840"/>
          </a:xfrm>
          <a:prstGeom prst="rect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67144" y="36667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67144" y="3941064"/>
            <a:ext cx="188366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Mode Split (Pie)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Key Business Insights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04672"/>
          <a:ext cx="3291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2907792"/>
          <a:ext cx="32918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931920" y="804672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931920" y="804672"/>
            <a:ext cx="237744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005072" y="841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Gap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023360" y="1152144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&amp; Chennai &lt; 250 restaurants — lowest competition, prime opportunity.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92240" y="804672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92240" y="804672"/>
            <a:ext cx="237744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565392" y="84124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583680" y="1152144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= 38% of all orders. Lunch = 28%. Peak hours drive revenue.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931920" y="219456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931920" y="2194560"/>
            <a:ext cx="237744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005072" y="22311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Rated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023360" y="2542032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&amp; Continental score 4.1+ — premium cuisine earns loyalty.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492240" y="2194560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2194560"/>
            <a:ext cx="237744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65392" y="223113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Power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583680" y="2542032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avg ₹845 vs Kolkata ₹490 — pricing must be city-specific.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931920" y="3584448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931920" y="3584448"/>
            <a:ext cx="237744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005072" y="36210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023360" y="393192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restaurants have online ordering — it is now non-negotiable.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92240" y="3584448"/>
            <a:ext cx="23774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492240" y="3584448"/>
            <a:ext cx="2377440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65392" y="36210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Orders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583680" y="393192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of all orders are re-orders — consistency builds loyal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ML Pipeline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prediction — step by step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CSV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Restaurants, Orders,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Reviews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10512" y="2377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1005840"/>
            <a:ext cx="15087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1168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Encode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03120" y="2240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→ int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fix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47872" y="2377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49040" y="1005840"/>
            <a:ext cx="15087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74904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40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merged tables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285232" y="2377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1005840"/>
            <a:ext cx="1508760" cy="32004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🌲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240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Decision Trees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for best answer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22592" y="23774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23760" y="1005840"/>
            <a:ext cx="1508760" cy="32004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1887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23760" y="17830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224028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Areas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Top 5 Cuisines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370832"/>
            <a:ext cx="3931920" cy="594360"/>
          </a:xfrm>
          <a:prstGeom prst="rect">
            <a:avLst/>
          </a:prstGeom>
          <a:solidFill>
            <a:srgbClr val="E84040">
              <a:alpha val="15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407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Use Case 1 — Input: Cuisine + Price + Type  →  Output: Best Area to Open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370832"/>
            <a:ext cx="3931920" cy="594360"/>
          </a:xfrm>
          <a:prstGeom prst="rect">
            <a:avLst/>
          </a:prstGeom>
          <a:solidFill>
            <a:srgbClr val="E84040">
              <a:alpha val="15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407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 Use Case 2 — Input: City + Area + Budget  →  Output: Best Cuisine to Serve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What the Model Learns From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949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created 4 new columns that capture market intelligence — these are the most important signals the model uses to make predictions.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competition_density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" y="1572768"/>
            <a:ext cx="3931920" cy="274320"/>
          </a:xfrm>
          <a:prstGeom prst="rect">
            <a:avLst/>
          </a:prstGeom>
          <a:solidFill>
            <a:srgbClr val="F3F3F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591056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COUNT(restaurants with same cuisine in same area)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" y="1901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crowded is the market for this cuisine in this area?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" y="2176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 = Saturated market — hard to stand out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  = Less competition — easier to capture 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27448" y="1170432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27448" y="1170432"/>
            <a:ext cx="54864" cy="17190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2618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cuisine_popularity_score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73752" y="1572768"/>
            <a:ext cx="3931920" cy="274320"/>
          </a:xfrm>
          <a:prstGeom prst="rect">
            <a:avLst/>
          </a:prstGeom>
          <a:solidFill>
            <a:srgbClr val="F3F3F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1591056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AVG(total_orders × avg_rating)  per cuisine per area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73752" y="19019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this cuisine perform in this area?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73752" y="21762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 = Customers love &amp; order this cuisine here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73752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  = This cuisine has low traction in this area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072384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72384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" y="3163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demand_supply_gap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" y="3474720"/>
            <a:ext cx="3931920" cy="274320"/>
          </a:xfrm>
          <a:prstGeom prst="rect">
            <a:avLst/>
          </a:prstGeom>
          <a:solidFill>
            <a:srgbClr val="F3F3F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49300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normalize(popularity) − normalize(competition)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" y="3803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score — is there unmet demand?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" y="4078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 +ve = Strong opportunity (high demand, low supply)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" y="4370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Negative = Saturated — oversupplied relative to demand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27448" y="3072384"/>
            <a:ext cx="420624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27448" y="3072384"/>
            <a:ext cx="54864" cy="171907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163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avg_order_value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73752" y="3474720"/>
            <a:ext cx="3931920" cy="274320"/>
          </a:xfrm>
          <a:prstGeom prst="rect">
            <a:avLst/>
          </a:prstGeom>
          <a:solidFill>
            <a:srgbClr val="F3F3F3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3493008"/>
            <a:ext cx="37856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AVG(total_amount of delivered orders)  per area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873752" y="38039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 customers in this area spend per order?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73752" y="407822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6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High = Premium area — supports higher price points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73752" y="43708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Low  = Budget area — volume strategy works better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How It Predicts the Best Location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0" y="128016"/>
            <a:ext cx="1691640" cy="5120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50608" y="1645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90.67%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43200" cy="3657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22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User Inputs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243584"/>
            <a:ext cx="25603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618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Type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83080" y="126187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Biryani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79222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105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Type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783080" y="181051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Cloud Kitchen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340864"/>
            <a:ext cx="25603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591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for Two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83080" y="23591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₹500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88950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077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83080" y="29077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Yes  →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438144"/>
            <a:ext cx="256032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5643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Booking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4564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No   → 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91840" y="804672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804672"/>
            <a:ext cx="28803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8229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What the Model Does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124358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Encode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59936" y="124358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cuisine &amp; type names to numbers using LabelEncoder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83280" y="190195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Lookup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59936" y="190195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avg competition_density, popularity_score &amp; demand_supply_gap for that cuisine type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383280" y="25603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Build Row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059936" y="25603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9 features into a single input row for the model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21868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Forest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59936" y="321868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row through 100 decision trees — each tree votes for an area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3877056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Rank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59936" y="3877056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ranked by vote count → returns Top 5 with confidence 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0" y="804672"/>
            <a:ext cx="2423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804672"/>
            <a:ext cx="2423160" cy="3657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822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 Example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92240" y="12252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Cuisine: Biryani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Cloud Kitchen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₹500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847088"/>
            <a:ext cx="2240280" cy="420624"/>
          </a:xfrm>
          <a:prstGeom prst="rect">
            <a:avLst/>
          </a:prstGeom>
          <a:solidFill>
            <a:srgbClr val="FFF0F0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0528" y="189280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784848" y="1883664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Banjara Hills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84848" y="20665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65008" y="1883664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92240" y="2322576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10528" y="2368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84848" y="2359152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Koramangala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784848" y="2542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065008" y="235915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92240" y="279806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10528" y="284378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784848" y="2834640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Andheri West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784848" y="3017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065008" y="2834640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92240" y="3273552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0528" y="331927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784848" y="3310128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 Hills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784848" y="34930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065008" y="3310128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492240" y="3749040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10528" y="379476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784848" y="3785616"/>
            <a:ext cx="1261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Indiranagar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784848" y="396849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065008" y="3785616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How It Predicts the Best Cuisine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132320" y="128016"/>
            <a:ext cx="16916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50608" y="16459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81.17%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74320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74320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229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User Inputs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243584"/>
            <a:ext cx="256032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618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126187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Hyderabad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792224"/>
            <a:ext cx="2560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105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181051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Banjara Hills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340864"/>
            <a:ext cx="256032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5915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(Price/2)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74520" y="235915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₹600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29443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then auto-computes from the dataset: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323697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competition_density  for the area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584448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cuisine_popularity_score  for the area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demand_supply_gap  for the area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427939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avg_order_value  for the area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804672"/>
            <a:ext cx="28803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804672"/>
            <a:ext cx="28803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82296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What the Model Does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1243584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Encode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59936" y="1243584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area names encoded to numbers via LabelEncoder saved during training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83280" y="1901952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Lookup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059936" y="1901952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queries feature_data.pkl to get pre-computed area-level stats (competition, popularity, gap)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83280" y="2560320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Build Row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59936" y="2560320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7 features into one input row for Model 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83280" y="3218688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Forest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059936" y="3218688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each vote for a cuisine type based on learned patterns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3877056"/>
            <a:ext cx="6583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Rank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59936" y="3877056"/>
            <a:ext cx="20299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 sorted by votes → Top 5 returned with confidence %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804672"/>
            <a:ext cx="242316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00800" y="804672"/>
            <a:ext cx="2423160" cy="3657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82296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 Example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92240" y="1225296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 Hyderabad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Banjara Hills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₹600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1847088"/>
            <a:ext cx="2240280" cy="420624"/>
          </a:xfrm>
          <a:prstGeom prst="rect">
            <a:avLst/>
          </a:prstGeom>
          <a:solidFill>
            <a:srgbClr val="F0F4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1892808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84848" y="18836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784848" y="206654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Demand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65008" y="1883664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92240" y="2322576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2368296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84848" y="23591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Mughlai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784848" y="254203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65008" y="235915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492240" y="2798064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10528" y="2843784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784848" y="28346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84848" y="3017520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65008" y="2834640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3273552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10528" y="3319272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84848" y="331012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Tandoor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784848" y="3493008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8065008" y="3310128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492240" y="3749040"/>
            <a:ext cx="2240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10528" y="379476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84848" y="378561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784848" y="396849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Comp.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065008" y="3785616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— Accuracy &amp;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4114800" cy="40233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Model 1 — Best Location Finder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90.67%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176272" y="1261872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2,400 rows   |   Test: 600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 (100 trees)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 105 unique areas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04672"/>
            <a:ext cx="411480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22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🍜  Model 2 — Best Cuisine Finder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261872"/>
            <a:ext cx="1645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81.17%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565392" y="1261872"/>
            <a:ext cx="2176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2,400 rows   |   Test: 600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Random Forest  (100 trees)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classes: 15 cuisine types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7980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Methods Used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82112"/>
            <a:ext cx="54864" cy="6858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accuracy_score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" y="3529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% of correct predictions on unseen test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27448" y="3182112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3182112"/>
            <a:ext cx="54864" cy="6858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2369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classification_report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73752" y="3529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F1-score per class (cuisine / area)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986784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86784"/>
            <a:ext cx="54864" cy="6858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confusion_matrix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" y="4334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heatmap showing which classes the model confuses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3986784"/>
            <a:ext cx="4206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986784"/>
            <a:ext cx="54864" cy="6858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40416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feature_importances_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3752" y="43342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input feature had the highest prediction impact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4128" y="10607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Zomato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with the real Zomato API or publicly available datasets to replace synthetic data with live market information.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9611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042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04488" y="10607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53619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XGBoost, LightGBM or deep learning models to improve prediction accuracy beyond current levels.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89611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9611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0424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84848" y="106070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Reviews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53619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sentiment analysis on review_text to understand what customers like and dislike about each cuisine in each area.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281635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1635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24128" y="2980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45643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3 years of order data to forecast future demand for cuisines by area — helping plan restaurant capacity.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81635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1635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04488" y="2980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Visualisation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45643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interactive map using Folium or Plotly showing recommended locations plotted with lat/lon coordinates.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26480" y="2816352"/>
            <a:ext cx="265176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816352"/>
            <a:ext cx="54864" cy="17190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62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4848" y="29809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456432"/>
            <a:ext cx="2423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Streamlit app on Streamlit Cloud or AWS so any user can access it from a browser without any local setup.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54864" cy="34747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651760" cy="40233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86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Libraries Used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 · numpy — Data loading and manipulation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matplotlib · seaborn — Data visualizations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 — ML models, encoders,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 — Web application framework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joblib — Model serialization (.pkl files)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868680"/>
            <a:ext cx="2651760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886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Learning References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371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 documentation (scikit-learn.org)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9019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Streamlit documentation (docs.streamlit.io)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4323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Kaggle — Zomato Bangalore Restaurants Dataset (reference)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9626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Hands-on Machine Learning — Aurélien Géron (book)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4930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for Data Analysis — Wes McKinney (book)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868680"/>
            <a:ext cx="265176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868680"/>
            <a:ext cx="2651760" cy="40233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886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Dataset Inspiration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13716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Zomato India restaurant &amp; order data insights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9019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Swiggy annual transparency reports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24323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NRAI India Food Services Report 2023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9626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Statista — India food delivery market statistics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49300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Kaggle public datasets on food ordering patterns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00400" y="0"/>
            <a:ext cx="2743200" cy="5143500"/>
          </a:xfrm>
          <a:prstGeom prst="rect">
            <a:avLst/>
          </a:prstGeom>
          <a:solidFill>
            <a:srgbClr val="E84040">
              <a:alpha val="8000"/>
            </a:srgbClr>
          </a:solidFill>
          <a:ln w="12700">
            <a:solidFill>
              <a:srgbClr val="E8404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0" y="996991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🍽️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914400" y="2066839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853223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Restaurant Consulting Platform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Rehan  | 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Imarticus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Learning  |  Data Science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1933</Words>
  <Application>Microsoft Office PowerPoint</Application>
  <PresentationFormat>On-screen Show (16:9)</PresentationFormat>
  <Paragraphs>395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Restaurant Consulting Platform</dc:title>
  <dc:subject>PptxGenJS Presentation</dc:subject>
  <dc:creator>Capstone Project</dc:creator>
  <cp:lastModifiedBy>Care</cp:lastModifiedBy>
  <cp:revision>3</cp:revision>
  <dcterms:created xsi:type="dcterms:W3CDTF">2026-03-04T18:51:32Z</dcterms:created>
  <dcterms:modified xsi:type="dcterms:W3CDTF">2026-03-04T19:04:39Z</dcterms:modified>
</cp:coreProperties>
</file>